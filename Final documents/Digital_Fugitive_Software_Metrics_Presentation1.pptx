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oriya-moorthy-0107/Digital-Fugitive.git" TargetMode="External"/><Relationship Id="rId2" Type="http://schemas.openxmlformats.org/officeDocument/2006/relationships/hyperlink" Target="https://drive.google.com/file/d/1uKCd2XEqziQDHPWwrbL6zTwGfSY_vXxP/view?usp=drivesdk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35440" y="228600"/>
            <a:ext cx="24688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5E6C7C"/>
                </a:solidFill>
                <a:latin typeface="Aptos"/>
              </a:defRPr>
            </a:pPr>
            <a:r>
              <a:t>SOFTWARE METRICS  |  FINAL REPORT</a:t>
            </a:r>
          </a:p>
        </p:txBody>
      </p:sp>
      <p:pic>
        <p:nvPicPr>
          <p:cNvPr id="5" name="Picture 4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695" y="228600"/>
            <a:ext cx="3318552" cy="1051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1325880"/>
            <a:ext cx="1014984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2563A8"/>
                </a:solidFill>
                <a:latin typeface="Aptos"/>
              </a:defRPr>
            </a:pPr>
            <a:r>
              <a:rPr dirty="0"/>
              <a:t>VELLORE INSTITUTE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14984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25303F"/>
                </a:solidFill>
                <a:latin typeface="Aptos"/>
              </a:defRPr>
            </a:pPr>
            <a:r>
              <a:rPr sz="1400" dirty="0"/>
              <a:t>School of Computer Science and Information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1014984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5E6C7C"/>
                </a:solidFill>
                <a:latin typeface="Aptos"/>
              </a:defRPr>
            </a:pPr>
            <a:r>
              <a:rPr sz="1400" b="1" dirty="0"/>
              <a:t>Fall Semester 2026–27  |  Course: Software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3327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200" b="1">
                <a:solidFill>
                  <a:srgbClr val="163052"/>
                </a:solidFill>
                <a:latin typeface="Aptos Display"/>
              </a:defRPr>
            </a:pPr>
            <a:r>
              <a:t>DIGITAL FUGITIVE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72384"/>
            <a:ext cx="996696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2563A8"/>
                </a:solidFill>
                <a:latin typeface="Aptos"/>
              </a:defRPr>
            </a:pPr>
            <a:r>
              <a:t>AI-Driven Search Simulation &amp; Software Metrics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3327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163052"/>
                </a:solidFill>
                <a:latin typeface="Aptos"/>
              </a:defRPr>
            </a:pPr>
            <a:r>
              <a:t>TEAM MEMBERS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723622"/>
              </p:ext>
            </p:extLst>
          </p:nvPr>
        </p:nvGraphicFramePr>
        <p:xfrm>
          <a:off x="2148840" y="4114800"/>
          <a:ext cx="79095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S. No.</a:t>
                      </a:r>
                    </a:p>
                  </a:txBody>
                  <a:tcPr>
                    <a:solidFill>
                      <a:srgbClr val="1630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Register Number</a:t>
                      </a:r>
                    </a:p>
                  </a:txBody>
                  <a:tcPr>
                    <a:solidFill>
                      <a:srgbClr val="1630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Name</a:t>
                      </a:r>
                    </a:p>
                  </a:txBody>
                  <a:tcPr>
                    <a:solidFill>
                      <a:srgbClr val="1630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25303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5303F"/>
                          </a:solidFill>
                          <a:latin typeface="Aptos"/>
                        </a:rPr>
                        <a:t>23MIS0296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5303F"/>
                          </a:solidFill>
                          <a:latin typeface="Aptos"/>
                        </a:rPr>
                        <a:t>Sooriya Moorthy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5303F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25303F"/>
                          </a:solidFill>
                          <a:latin typeface="Aptos"/>
                        </a:rPr>
                        <a:t>23MIS0527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5303F"/>
                          </a:solidFill>
                          <a:latin typeface="Aptos"/>
                        </a:rPr>
                        <a:t>Deeksha M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5303F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25303F"/>
                          </a:solidFill>
                          <a:latin typeface="Aptos"/>
                        </a:rPr>
                        <a:t>23MIS0280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25303F"/>
                          </a:solidFill>
                          <a:latin typeface="Aptos"/>
                        </a:rPr>
                        <a:t>Thiru Dev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5303F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5303F"/>
                          </a:solidFill>
                          <a:latin typeface="Aptos"/>
                        </a:rPr>
                        <a:t>23MIS0521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dirty="0">
                          <a:solidFill>
                            <a:srgbClr val="25303F"/>
                          </a:solidFill>
                          <a:latin typeface="Aptos"/>
                        </a:rPr>
                        <a:t>Priyadharshini 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5E6C7C"/>
                </a:solidFill>
                <a:latin typeface="Aptos"/>
              </a:defRPr>
            </a:pPr>
            <a:r>
              <a:t>128-run dataset  •  Grid-based AI search  •  Statistical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52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t>Why does a grid-based search need reasoning?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73152" cy="228600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310896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63052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404872"/>
            <a:ext cx="3090672" cy="1600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5303F"/>
                </a:solidFill>
                <a:latin typeface="Aptos"/>
              </a:defRPr>
            </a:pPr>
            <a:r>
              <a:t>Hidden fugitives are distributed across a grid. Blind exploration can inspect unnecessary cells and increase movement.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828800"/>
            <a:ext cx="73152" cy="2286000"/>
          </a:xfrm>
          <a:prstGeom prst="rect">
            <a:avLst/>
          </a:prstGeom>
          <a:solidFill>
            <a:srgbClr val="2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1993392"/>
            <a:ext cx="310896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63052"/>
                </a:solidFill>
                <a:latin typeface="Aptos"/>
              </a:defRPr>
            </a:pPr>
            <a:r>
              <a:t>THE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404872"/>
            <a:ext cx="3090672" cy="1600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5303F"/>
                </a:solidFill>
                <a:latin typeface="Aptos"/>
              </a:defRPr>
            </a:pPr>
            <a:r>
              <a:t>A search agent needs to combine observations, neighbouring-cell information and radar feedback to select candidate cells.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2880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828800"/>
            <a:ext cx="73152" cy="2286000"/>
          </a:xfrm>
          <a:prstGeom prst="rect">
            <a:avLst/>
          </a:prstGeom>
          <a:solidFill>
            <a:srgbClr val="E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1993392"/>
            <a:ext cx="310896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63052"/>
                </a:solidFill>
                <a:latin typeface="Aptos"/>
              </a:defRPr>
            </a:pPr>
            <a:r>
              <a:t>THE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404872"/>
            <a:ext cx="3090672" cy="1600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5303F"/>
                </a:solidFill>
                <a:latin typeface="Aptos"/>
              </a:defRPr>
            </a:pPr>
            <a:r>
              <a:t>Repeated runs are needed to measure search effort, execution time, fallback actions and run outcomes.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000" b="1">
                <a:solidFill>
                  <a:srgbClr val="163052"/>
                </a:solidFill>
                <a:latin typeface="Aptos"/>
              </a:defRPr>
            </a:pPr>
            <a:r>
              <a:t>Project question: How can logical reasoning guide the search, and what do the run metrics reveal about its behaviour?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52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t>An interactive AI search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5486400" cy="1371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0">
                <a:solidFill>
                  <a:srgbClr val="25303F"/>
                </a:solidFill>
                <a:latin typeface="Aptos"/>
              </a:defRPr>
            </a:pPr>
            <a:r>
              <a:t>Digital Fugitive is a Pygame-based simulation where hidden targets occupy cells in a 16 × 16 grid. Users configure the scenario and observe search progress through cell states and radar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5303520" cy="1920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5303F"/>
                </a:solidFill>
                <a:latin typeface="Aptos"/>
              </a:defRPr>
            </a:pPr>
            <a:r>
              <a:t>Combines random exploration and knowledge-based reasoning</a:t>
            </a:r>
          </a:p>
          <a:p>
            <a:pPr>
              <a:spcAft>
                <a:spcPts val="800"/>
              </a:spcAft>
              <a:defRPr sz="1500">
                <a:solidFill>
                  <a:srgbClr val="25303F"/>
                </a:solidFill>
                <a:latin typeface="Aptos"/>
              </a:defRPr>
            </a:pPr>
            <a:r>
              <a:t>Uses grid neighbours and Manhattan-distance radar</a:t>
            </a:r>
          </a:p>
          <a:p>
            <a:pPr>
              <a:spcAft>
                <a:spcPts val="800"/>
              </a:spcAft>
              <a:defRPr sz="1500">
                <a:solidFill>
                  <a:srgbClr val="25303F"/>
                </a:solidFill>
                <a:latin typeface="Aptos"/>
              </a:defRPr>
            </a:pPr>
            <a:r>
              <a:t>Records 128 runs for software-metrics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691640"/>
            <a:ext cx="4754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WhatsApp Image 2026-10-23 at 21.44.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56" y="1691640"/>
            <a:ext cx="4014127" cy="4389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9400" y="6108192"/>
            <a:ext cx="466344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0">
                <a:solidFill>
                  <a:srgbClr val="5E6C7C"/>
                </a:solidFill>
                <a:latin typeface="Aptos"/>
              </a:defRPr>
            </a:pPr>
            <a:r>
              <a:t>Example: Phase 1 — hidden-fugitive placement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t>Project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52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t>From visible search behaviour to measurable outcomes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73152" cy="201168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947672"/>
            <a:ext cx="30632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63052"/>
                </a:solidFill>
                <a:latin typeface="Aptos"/>
              </a:defRPr>
            </a:pPr>
            <a:r>
              <a:t>AI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59152"/>
            <a:ext cx="3044952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5303F"/>
                </a:solidFill>
                <a:latin typeface="Aptos"/>
              </a:defRPr>
            </a:pPr>
            <a:r>
              <a:t>A grid-based environment with hidden fugitives, observations and radar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7830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783080"/>
            <a:ext cx="73152" cy="2011680"/>
          </a:xfrm>
          <a:prstGeom prst="rect">
            <a:avLst/>
          </a:prstGeom>
          <a:solidFill>
            <a:srgbClr val="2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1947672"/>
            <a:ext cx="30632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63052"/>
                </a:solidFill>
                <a:latin typeface="Aptos"/>
              </a:defRPr>
            </a:pPr>
            <a:r>
              <a:t>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359152"/>
            <a:ext cx="3044952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5303F"/>
                </a:solidFill>
                <a:latin typeface="Aptos"/>
              </a:defRPr>
            </a:pPr>
            <a:r>
              <a:t>A knowledge base, propositional logic and constraint propagation guide candidate-cell selection.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830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783080"/>
            <a:ext cx="73152" cy="2011680"/>
          </a:xfrm>
          <a:prstGeom prst="rect">
            <a:avLst/>
          </a:prstGeom>
          <a:solidFill>
            <a:srgbClr val="E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1947672"/>
            <a:ext cx="30632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63052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359152"/>
            <a:ext cx="3044952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5303F"/>
                </a:solidFill>
                <a:latin typeface="Aptos"/>
              </a:defRPr>
            </a:pPr>
            <a:r>
              <a:t>128 runs analysed with distribution, control-chart, correlation and decision-tree methods.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89120"/>
            <a:ext cx="9966960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100" b="1">
                <a:solidFill>
                  <a:srgbClr val="163052"/>
                </a:solidFill>
                <a:latin typeface="Aptos"/>
              </a:defRPr>
            </a:pPr>
            <a:r>
              <a:t>Motivation: make search decisions understandable, compare run behaviour, and identify measurable patterns.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486400"/>
            <a:ext cx="2011680" cy="310896"/>
          </a:xfrm>
          <a:prstGeom prst="roundRect">
            <a:avLst/>
          </a:prstGeom>
          <a:solidFill>
            <a:srgbClr val="DC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03320" y="5522976"/>
            <a:ext cx="19202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163052"/>
                </a:solidFill>
                <a:latin typeface="Aptos"/>
              </a:defRPr>
            </a:pPr>
            <a:r>
              <a:t>16 × 16 GRID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5486400"/>
            <a:ext cx="2286000" cy="310896"/>
          </a:xfrm>
          <a:prstGeom prst="roundRect">
            <a:avLst/>
          </a:prstGeom>
          <a:solidFill>
            <a:srgbClr val="E6F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0" y="5522976"/>
            <a:ext cx="21945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288C69"/>
                </a:solidFill>
                <a:latin typeface="Aptos"/>
              </a:defRPr>
            </a:pPr>
            <a:r>
              <a:t>128 RUNS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" y="1109147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rPr dirty="0"/>
              <a:t>Search workflow and analysis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50292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igital_fugitiv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78256"/>
            <a:ext cx="5029200" cy="33701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0760" y="1600200"/>
            <a:ext cx="5212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2563A8"/>
                </a:solidFill>
                <a:latin typeface="Aptos"/>
              </a:defRPr>
            </a:pPr>
            <a:r>
              <a:t>AI / SIMULATION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011680"/>
            <a:ext cx="5303520" cy="1920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Randomized exploration and knowledge-based search</a:t>
            </a:r>
          </a:p>
          <a:p>
            <a:pPr>
              <a:spcAft>
                <a:spcPts val="5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Propositional logic and constraint propagation</a:t>
            </a:r>
          </a:p>
          <a:p>
            <a:pPr>
              <a:spcAft>
                <a:spcPts val="5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Neighbour information and Manhattan distance</a:t>
            </a:r>
          </a:p>
          <a:p>
            <a:pPr>
              <a:spcAft>
                <a:spcPts val="5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Hot/Cold radar feedback and fallback moves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4160520"/>
            <a:ext cx="5212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1">
                <a:solidFill>
                  <a:srgbClr val="2563A8"/>
                </a:solidFill>
                <a:latin typeface="Aptos"/>
              </a:defRPr>
            </a:pPr>
            <a:r>
              <a:t>SOFTWARE-METRICS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553712"/>
            <a:ext cx="5303520" cy="1463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Box plot and control chart</a:t>
            </a:r>
          </a:p>
          <a:p>
            <a:pPr>
              <a:spcAft>
                <a:spcPts val="5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Pearson, Spearman and Kendall correlation</a:t>
            </a:r>
          </a:p>
          <a:p>
            <a:pPr>
              <a:spcAft>
                <a:spcPts val="5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Decision-tree classification: Failure / No Failure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93776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698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t>Layered view of the search and feedback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10835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5E6C7C"/>
                </a:solidFill>
                <a:latin typeface="Aptos"/>
              </a:defRPr>
            </a:pPr>
            <a:r>
              <a:t>Feedback loop: observations update the knowledge base; the next action changes the grid state.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90DA60-D8D9-57F9-4D49-D1741DEE9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087" y="1347684"/>
            <a:ext cx="7354945" cy="4903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52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t>What the system does during a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20240"/>
            <a:ext cx="2057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148840"/>
            <a:ext cx="1737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2563A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97480"/>
            <a:ext cx="18288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163052"/>
                </a:solidFill>
                <a:latin typeface="Aptos"/>
              </a:defRPr>
            </a:pPr>
            <a:r>
              <a:t>Initialize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246120"/>
            <a:ext cx="1737360" cy="11887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25303F"/>
                </a:solidFill>
                <a:latin typeface="Aptos"/>
              </a:defRPr>
            </a:pPr>
            <a:r>
              <a:t>Create the 16 × 16 grid and place hidden fugitives.</a:t>
            </a:r>
          </a:p>
        </p:txBody>
      </p:sp>
      <p:sp>
        <p:nvSpPr>
          <p:cNvPr id="14" name="Chevron 13"/>
          <p:cNvSpPr/>
          <p:nvPr/>
        </p:nvSpPr>
        <p:spPr>
          <a:xfrm>
            <a:off x="2743200" y="2971800"/>
            <a:ext cx="256032" cy="502920"/>
          </a:xfrm>
          <a:prstGeom prst="chevron">
            <a:avLst/>
          </a:prstGeom>
          <a:solidFill>
            <a:srgbClr val="B5E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99232" y="1920240"/>
            <a:ext cx="2057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63824" y="2148840"/>
            <a:ext cx="1737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2563A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697480"/>
            <a:ext cx="18288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163052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3246120"/>
            <a:ext cx="1737360" cy="11887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25303F"/>
                </a:solidFill>
                <a:latin typeface="Aptos"/>
              </a:defRPr>
            </a:pPr>
            <a:r>
              <a:t>Read cell state, neighbour information and radar evidence.</a:t>
            </a:r>
          </a:p>
        </p:txBody>
      </p:sp>
      <p:sp>
        <p:nvSpPr>
          <p:cNvPr id="19" name="Chevron 18"/>
          <p:cNvSpPr/>
          <p:nvPr/>
        </p:nvSpPr>
        <p:spPr>
          <a:xfrm>
            <a:off x="5056631" y="2971800"/>
            <a:ext cx="256032" cy="502920"/>
          </a:xfrm>
          <a:prstGeom prst="chevron">
            <a:avLst/>
          </a:prstGeom>
          <a:solidFill>
            <a:srgbClr val="B5E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12664" y="1920240"/>
            <a:ext cx="2057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77255" y="2148840"/>
            <a:ext cx="1737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2563A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2697480"/>
            <a:ext cx="18288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163052"/>
                </a:solidFill>
                <a:latin typeface="Aptos"/>
              </a:defRPr>
            </a:pPr>
            <a:r>
              <a:t>Reason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5" y="3246120"/>
            <a:ext cx="1737360" cy="11887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25303F"/>
                </a:solidFill>
                <a:latin typeface="Aptos"/>
              </a:defRPr>
            </a:pPr>
            <a:r>
              <a:t>Update knowledge and eliminate inconsistent candidates.</a:t>
            </a:r>
          </a:p>
        </p:txBody>
      </p:sp>
      <p:sp>
        <p:nvSpPr>
          <p:cNvPr id="24" name="Chevron 23"/>
          <p:cNvSpPr/>
          <p:nvPr/>
        </p:nvSpPr>
        <p:spPr>
          <a:xfrm>
            <a:off x="7370063" y="2971800"/>
            <a:ext cx="256032" cy="502920"/>
          </a:xfrm>
          <a:prstGeom prst="chevron">
            <a:avLst/>
          </a:prstGeom>
          <a:solidFill>
            <a:srgbClr val="B5E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26096" y="1920240"/>
            <a:ext cx="2057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90688" y="2148840"/>
            <a:ext cx="1737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2563A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3" y="2697480"/>
            <a:ext cx="18288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163052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3246120"/>
            <a:ext cx="1737360" cy="11887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25303F"/>
                </a:solidFill>
                <a:latin typeface="Aptos"/>
              </a:defRPr>
            </a:pPr>
            <a:r>
              <a:t>Select the next cell using logical evidence and distance feedback.</a:t>
            </a:r>
          </a:p>
        </p:txBody>
      </p:sp>
      <p:sp>
        <p:nvSpPr>
          <p:cNvPr id="29" name="Chevron 28"/>
          <p:cNvSpPr/>
          <p:nvPr/>
        </p:nvSpPr>
        <p:spPr>
          <a:xfrm>
            <a:off x="9683496" y="2971800"/>
            <a:ext cx="256032" cy="502920"/>
          </a:xfrm>
          <a:prstGeom prst="chevron">
            <a:avLst/>
          </a:prstGeom>
          <a:solidFill>
            <a:srgbClr val="B5E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939528" y="1920240"/>
            <a:ext cx="20574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04119" y="2148840"/>
            <a:ext cx="1737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2563A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9255" y="2697480"/>
            <a:ext cx="18288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163052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19" y="3246120"/>
            <a:ext cx="1737360" cy="11887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25303F"/>
                </a:solidFill>
                <a:latin typeface="Aptos"/>
              </a:defRPr>
            </a:pPr>
            <a:r>
              <a:t>Record cells inspected, moves, outcome and execution 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0">
                <a:solidFill>
                  <a:srgbClr val="5E6C7C"/>
                </a:solidFill>
                <a:latin typeface="Aptos"/>
              </a:defRPr>
            </a:pPr>
            <a:r>
              <a:t>Fallback exploration is used when no guaranteed safe move is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t>Dataset &amp; Source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52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t>Use these links to access the dataset and implementation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52578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73152" cy="228600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993392"/>
            <a:ext cx="48920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63052"/>
                </a:solidFill>
                <a:latin typeface="Aptos"/>
              </a:defRPr>
            </a:pPr>
            <a:r>
              <a:t>DATASET (CSV)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404872"/>
            <a:ext cx="4873752" cy="1600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5303F"/>
                </a:solidFill>
                <a:latin typeface="Aptos"/>
              </a:defRPr>
            </a:pPr>
            <a:r>
              <a:t>Digital Fugitive 128-Run Dataset with Execution Time</a:t>
            </a:r>
            <a:br/>
            <a:br/>
            <a:r>
              <a:t>128 recorded simulation runs; metrics include cells inspected, safe moves, fallback moves, targets identified, total moves, failure and execution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2578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73152" cy="2286000"/>
          </a:xfrm>
          <a:prstGeom prst="rect">
            <a:avLst/>
          </a:prstGeom>
          <a:solidFill>
            <a:srgbClr val="2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993392"/>
            <a:ext cx="48920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63052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404872"/>
            <a:ext cx="4873752" cy="1600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5303F"/>
                </a:solidFill>
                <a:latin typeface="Aptos"/>
              </a:defRPr>
            </a:pPr>
            <a:r>
              <a:t>Digital-Fugitive source-code repository</a:t>
            </a:r>
            <a:br/>
            <a:br/>
            <a:r>
              <a:t>Contains the project implementation and supporting files.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A8"/>
                </a:solidFill>
                <a:latin typeface="Aptos"/>
              </a:defRPr>
            </a:pPr>
            <a:r>
              <a:rPr sz="1500" b="1">
                <a:solidFill>
                  <a:srgbClr val="2563A8"/>
                </a:solidFill>
                <a:latin typeface="Aptos"/>
                <a:hlinkClick r:id="rId2"/>
              </a:rPr>
              <a:t>Open dataset in Google 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563A8"/>
                </a:solidFill>
                <a:latin typeface="Aptos"/>
                <a:hlinkClick r:id="rId3"/>
              </a:rPr>
              <a:t>Open GitHub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607040" cy="2062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5E6C7C"/>
                </a:solidFill>
                <a:latin typeface="Aptos"/>
              </a:defRPr>
            </a:pP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EXECUTION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t>Project Outcomes — Interface &amp;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52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t>Screenshots supplied with the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hatsApp Image 2026-10-23 at 21.43.5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470" y="1554480"/>
            <a:ext cx="4030738" cy="4389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WhatsApp Image 2026-10-23 at 21.44.0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6" y="1554480"/>
            <a:ext cx="4014127" cy="4389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989320"/>
            <a:ext cx="5029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5E6C7C"/>
                </a:solidFill>
                <a:latin typeface="Aptos"/>
              </a:defRPr>
            </a:pPr>
            <a:r>
              <a:t>Initial grid before placing targets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989320"/>
            <a:ext cx="5029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5E6C7C"/>
                </a:solidFill>
                <a:latin typeface="Aptos"/>
              </a:defRPr>
            </a:pPr>
            <a:r>
              <a:t>Phase 1 — hidden-fugitive placement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EXECUTION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t>Project Outcomes — Radar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52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t>Cell colours and symbols visualize the search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0876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hatsApp Image 2026-10-23 at 21.44.3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53" y="1508760"/>
            <a:ext cx="4053972" cy="4526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150876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WhatsApp Image 2026-10-23 at 21.44.4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707" y="1508760"/>
            <a:ext cx="4093945" cy="4526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6080760"/>
            <a:ext cx="5029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0">
                <a:solidFill>
                  <a:srgbClr val="5E6C7C"/>
                </a:solidFill>
                <a:latin typeface="Aptos"/>
              </a:defRPr>
            </a:pPr>
            <a:r>
              <a:t>Phase 2 — radar tracking and cell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6080760"/>
            <a:ext cx="50292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0">
                <a:solidFill>
                  <a:srgbClr val="5E6C7C"/>
                </a:solidFill>
                <a:latin typeface="Aptos"/>
              </a:defRPr>
            </a:pPr>
            <a:r>
              <a:t>Alternate tracking state from the supplied screenshots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METRIC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t>Software Metrics — Distribution &amp; 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52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t>The figures below are reproduced from the supplied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5120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163052"/>
                </a:solidFill>
                <a:latin typeface="Aptos"/>
              </a:defRPr>
            </a:pPr>
            <a:r>
              <a:t>Box plot: spread and median of run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520440"/>
            <a:ext cx="5120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1">
                <a:solidFill>
                  <a:srgbClr val="163052"/>
                </a:solidFill>
                <a:latin typeface="Aptos"/>
              </a:defRPr>
            </a:pPr>
            <a:r>
              <a:t>Control chart: Total Moves across 128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160520"/>
            <a:ext cx="73152" cy="141732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325112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63052"/>
                </a:solidFill>
                <a:latin typeface="Aptos"/>
              </a:defRPr>
            </a:pPr>
            <a:r>
              <a:t>128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736592"/>
            <a:ext cx="2999232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5303F"/>
                </a:solidFill>
                <a:latin typeface="Aptos"/>
              </a:defRPr>
            </a:pPr>
            <a:r>
              <a:t>Dataset size used for analysis.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1605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4160520"/>
            <a:ext cx="73152" cy="1417320"/>
          </a:xfrm>
          <a:prstGeom prst="rect">
            <a:avLst/>
          </a:prstGeom>
          <a:solidFill>
            <a:srgbClr val="2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4325112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63052"/>
                </a:solidFill>
                <a:latin typeface="Aptos"/>
              </a:defRPr>
            </a:pPr>
            <a:r>
              <a:t>43.08 MOVES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736592"/>
            <a:ext cx="2999232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5303F"/>
                </a:solidFill>
                <a:latin typeface="Aptos"/>
              </a:defRPr>
            </a:pPr>
            <a:r>
              <a:t>Reported mean for Total Moves.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1605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4160520"/>
            <a:ext cx="73152" cy="1417320"/>
          </a:xfrm>
          <a:prstGeom prst="rect">
            <a:avLst/>
          </a:prstGeom>
          <a:solidFill>
            <a:srgbClr val="E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4325112"/>
            <a:ext cx="301752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63052"/>
                </a:solidFill>
                <a:latin typeface="Aptos"/>
              </a:defRPr>
            </a:pPr>
            <a:r>
              <a:t>0.5–1.1 SEC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736592"/>
            <a:ext cx="2999232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25303F"/>
                </a:solidFill>
                <a:latin typeface="Aptos"/>
              </a:defRPr>
            </a:pPr>
            <a:r>
              <a:t>Approximate execution-time range stated in report.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5E6C7C"/>
                </a:solidFill>
                <a:latin typeface="Aptos"/>
              </a:defRPr>
            </a:pPr>
            <a:r>
              <a:t>Reported control limits: UCL = 83.49  |  LCL = 2.66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417320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938" y="1417320"/>
            <a:ext cx="4156363" cy="20574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217920" y="1417320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452" y="1417320"/>
            <a:ext cx="4145894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JUSTIFICATION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440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rPr dirty="0"/>
              <a:t>Justification — What Do the Metrics Tell Us?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06835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rPr dirty="0"/>
              <a:t>Correlation and classification add evidence beyond screenshots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60995"/>
            <a:ext cx="3474720" cy="172432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138160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9794" y="1417320"/>
            <a:ext cx="2411450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3474720"/>
            <a:ext cx="32918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1">
                <a:solidFill>
                  <a:srgbClr val="163052"/>
                </a:solidFill>
                <a:latin typeface="Aptos"/>
              </a:defRPr>
            </a:pPr>
            <a:r>
              <a:t>Pearson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474720"/>
            <a:ext cx="32918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1">
                <a:solidFill>
                  <a:srgbClr val="163052"/>
                </a:solidFill>
                <a:latin typeface="Aptos"/>
              </a:defRPr>
            </a:pPr>
            <a:r>
              <a:t>Spearman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32918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1">
                <a:solidFill>
                  <a:srgbClr val="163052"/>
                </a:solidFill>
                <a:latin typeface="Aptos"/>
              </a:defRPr>
            </a:pPr>
            <a:r>
              <a:t>Kendall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023360"/>
            <a:ext cx="6400800" cy="1920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5303F"/>
                </a:solidFill>
                <a:latin typeface="Aptos"/>
              </a:defRPr>
            </a:pPr>
            <a:r>
              <a:t>Cells inspected ↔ total moves: reported correlation = 1.00</a:t>
            </a:r>
          </a:p>
          <a:p>
            <a:pPr>
              <a:spcAft>
                <a:spcPts val="400"/>
              </a:spcAft>
              <a:defRPr sz="1300">
                <a:solidFill>
                  <a:srgbClr val="25303F"/>
                </a:solidFill>
                <a:latin typeface="Aptos"/>
              </a:defRPr>
            </a:pPr>
            <a:r>
              <a:t>Cells inspected ↔ execution time: Pearson 0.98; Spearman 0.97</a:t>
            </a:r>
          </a:p>
          <a:p>
            <a:pPr>
              <a:spcAft>
                <a:spcPts val="400"/>
              </a:spcAft>
              <a:defRPr sz="1300">
                <a:solidFill>
                  <a:srgbClr val="25303F"/>
                </a:solidFill>
                <a:latin typeface="Aptos"/>
              </a:defRPr>
            </a:pPr>
            <a:r>
              <a:t>Decision tree classifies Failure / No Failure using run metrics</a:t>
            </a:r>
          </a:p>
          <a:p>
            <a:pPr>
              <a:spcAft>
                <a:spcPts val="400"/>
              </a:spcAft>
              <a:defRPr sz="1300">
                <a:solidFill>
                  <a:srgbClr val="25303F"/>
                </a:solidFill>
                <a:latin typeface="Aptos"/>
              </a:defRPr>
            </a:pPr>
            <a:r>
              <a:t>Correlation indicates association, not causation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80760"/>
            <a:ext cx="38404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0">
                <a:solidFill>
                  <a:srgbClr val="5E6C7C"/>
                </a:solidFill>
                <a:latin typeface="Aptos"/>
              </a:defRPr>
            </a:pPr>
            <a:r>
              <a:t>Decision-tree classification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74" y="1417320"/>
            <a:ext cx="2411450" cy="201168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43400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991" y="1417320"/>
            <a:ext cx="2413537" cy="201168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138160" y="14173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8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9793" y="1417320"/>
            <a:ext cx="2411453" cy="201168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31520" y="3977639"/>
            <a:ext cx="3931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07659"/>
            <a:ext cx="3931920" cy="1905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t>Conclusion &amp; 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527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t>Key takeaways and practical next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578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73152" cy="406908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810512"/>
            <a:ext cx="48920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16305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21992"/>
            <a:ext cx="4873752" cy="33832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5303F"/>
                </a:solidFill>
                <a:latin typeface="Aptos"/>
              </a:defRPr>
            </a:pPr>
            <a:r>
              <a:t>• Digital Fugitive makes search behaviour visible through a grid and radar feedback.</a:t>
            </a:r>
            <a:br/>
            <a:br/>
            <a:r>
              <a:t>• 128 runs provide a basis for analysing movement, inspected cells and execution time.</a:t>
            </a:r>
            <a:br/>
            <a:br/>
            <a:r>
              <a:t>• Reported metrics show a strong relationship between cells inspected and total moves.</a:t>
            </a:r>
            <a:br/>
            <a:br/>
            <a:r>
              <a:t>• The control chart and decision tree provide complementary views of stability and outcome.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2578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73152" cy="4069080"/>
          </a:xfrm>
          <a:prstGeom prst="rect">
            <a:avLst/>
          </a:prstGeom>
          <a:solidFill>
            <a:srgbClr val="288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810512"/>
            <a:ext cx="48920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163052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221992"/>
            <a:ext cx="4873752" cy="33832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5303F"/>
                </a:solidFill>
                <a:latin typeface="Aptos"/>
              </a:defRPr>
            </a:pPr>
            <a:r>
              <a:t>• Benchmark random and knowledge-based search on identical scenarios.</a:t>
            </a:r>
            <a:br/>
            <a:br/>
            <a:r>
              <a:t>• Add more runs and report confidence intervals.</a:t>
            </a:r>
            <a:br/>
            <a:br/>
            <a:r>
              <a:t>• Evaluate the classifier using precision, recall, F1-score and cross-validation.</a:t>
            </a:r>
            <a:br/>
            <a:br/>
            <a:r>
              <a:t>• Add reproducible seeds, automated CSV export and a results dashboard.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563A8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201400" cy="10972"/>
          </a:xfrm>
          <a:prstGeom prst="rect">
            <a:avLst/>
          </a:prstGeom>
          <a:solidFill>
            <a:srgbClr val="CD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C7C"/>
                </a:solidFill>
                <a:latin typeface="Aptos"/>
              </a:defRPr>
            </a:pPr>
            <a:r>
              <a:t>DIGITAL FUGITIVE  |  SOFTWARE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C7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3052"/>
                </a:solidFill>
                <a:latin typeface="Aptos Display"/>
              </a:defRPr>
            </a:pPr>
            <a:r>
              <a:t>Questions — Software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2801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C7C"/>
                </a:solidFill>
                <a:latin typeface="Aptos"/>
              </a:defRPr>
            </a:pPr>
            <a:r>
              <a:t>Possible questions for the presentation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4023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1. Why were 128 runs used for the analysis?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2. What does the box plot tell us about variation in Total Moves?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3. What do UCL and LCL mean in the control chart?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4. How are Pearson, Spearman and Kendall correlation different?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5. Why does correlation not prove causation?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6. What does the decision tree predict, and which metrics does it use?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B5E05B"/>
                </a:solidFill>
                <a:latin typeface="Aptos"/>
              </a:defRPr>
            </a:pPr>
            <a:r>
              <a:t>Discussion prompt: Which metric is most useful for explaining search efficiency, and why?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5E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200" b="1">
                <a:solidFill>
                  <a:srgbClr val="B5E05B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96696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DIGITAL FUGITIVE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99669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0">
                <a:solidFill>
                  <a:srgbClr val="DCE6F1"/>
                </a:solidFill>
                <a:latin typeface="Aptos"/>
              </a:defRPr>
            </a:pPr>
            <a:r>
              <a:t>AI-Driven Search Simulation &amp; Software Metrics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852160"/>
            <a:ext cx="9966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C8D5E5"/>
                </a:solidFill>
                <a:latin typeface="Aptos"/>
              </a:defRPr>
            </a:pPr>
            <a:r>
              <a:t>Vellore Institute of Technology  |  Fall Semester 2026–27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1063</Words>
  <Application>Microsoft Office PowerPoint</Application>
  <PresentationFormat>Widescreen</PresentationFormat>
  <Paragraphs>179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M.PRAVAHA</dc:creator>
  <cp:keywords/>
  <dc:description>generated using python-pptx</dc:description>
  <cp:lastModifiedBy>Deeksha Mani</cp:lastModifiedBy>
  <cp:revision>3</cp:revision>
  <dcterms:created xsi:type="dcterms:W3CDTF">2013-01-27T09:14:16Z</dcterms:created>
  <dcterms:modified xsi:type="dcterms:W3CDTF">2026-10-26T13:36:13Z</dcterms:modified>
  <cp:category/>
</cp:coreProperties>
</file>